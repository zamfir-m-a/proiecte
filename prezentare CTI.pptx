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57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32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09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2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29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26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72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9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6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02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631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7706FA-4428-4826-8204-103566289660}" type="datetimeFigureOut">
              <a:rPr lang="en-US" smtClean="0"/>
              <a:t>1/9/2019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744BBD-5FBE-47FA-9F48-36755F006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834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ritub.com/" TargetMode="External"/><Relationship Id="rId2" Type="http://schemas.openxmlformats.org/officeDocument/2006/relationships/hyperlink" Target="https://en.wikipedia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scribd.com/" TargetMode="External"/><Relationship Id="rId4" Type="http://schemas.openxmlformats.org/officeDocument/2006/relationships/hyperlink" Target="http://www.rasfoiesc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9D25-390A-47E8-A6C7-B5990AA7A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783555"/>
            <a:ext cx="10058400" cy="1254741"/>
          </a:xfrm>
        </p:spPr>
        <p:txBody>
          <a:bodyPr/>
          <a:lstStyle/>
          <a:p>
            <a:pPr algn="ctr"/>
            <a:r>
              <a:rPr lang="en-US" dirty="0" err="1"/>
              <a:t>Costurile</a:t>
            </a:r>
            <a:r>
              <a:rPr lang="en-US" dirty="0"/>
              <a:t> </a:t>
            </a:r>
            <a:r>
              <a:rPr lang="en-US" dirty="0" err="1"/>
              <a:t>calitatii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54B8A2-F24B-4675-BEE4-D7B17BDD7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0616" y="5754847"/>
            <a:ext cx="10058400" cy="422613"/>
          </a:xfrm>
        </p:spPr>
        <p:txBody>
          <a:bodyPr>
            <a:normAutofit/>
          </a:bodyPr>
          <a:lstStyle/>
          <a:p>
            <a:r>
              <a:rPr lang="en-US" sz="1400" dirty="0" err="1"/>
              <a:t>Zamfir</a:t>
            </a:r>
            <a:r>
              <a:rPr lang="en-US" sz="1400" dirty="0"/>
              <a:t> </a:t>
            </a:r>
            <a:r>
              <a:rPr lang="en-US" sz="1400" dirty="0" err="1"/>
              <a:t>mihai</a:t>
            </a:r>
            <a:r>
              <a:rPr lang="en-US" sz="1400" dirty="0"/>
              <a:t>-Adrian     </a:t>
            </a:r>
            <a:r>
              <a:rPr lang="en-US" sz="1400" dirty="0" err="1"/>
              <a:t>sgr</a:t>
            </a:r>
            <a:r>
              <a:rPr lang="en-US" sz="1400" dirty="0"/>
              <a:t>. 6.3 an III </a:t>
            </a:r>
            <a:r>
              <a:rPr lang="en-US" sz="1400" dirty="0" err="1"/>
              <a:t>upt</a:t>
            </a:r>
            <a:r>
              <a:rPr lang="en-US" sz="1400" dirty="0"/>
              <a:t> AC,CTI</a:t>
            </a:r>
          </a:p>
        </p:txBody>
      </p:sp>
    </p:spTree>
    <p:extLst>
      <p:ext uri="{BB962C8B-B14F-4D97-AF65-F5344CB8AC3E}">
        <p14:creationId xmlns:p14="http://schemas.microsoft.com/office/powerpoint/2010/main" val="3460619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5AEF7-981A-4536-BA51-9F82BBC2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 se </a:t>
            </a:r>
            <a:r>
              <a:rPr lang="en-US" dirty="0" err="1"/>
              <a:t>defineste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5BE68-9B2D-4F04-BDD1-16E4EADFE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domenii</a:t>
            </a:r>
            <a:r>
              <a:rPr lang="en-US" dirty="0"/>
              <a:t> in care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termen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, </a:t>
            </a:r>
            <a:r>
              <a:rPr lang="en-US" dirty="0" err="1"/>
              <a:t>iar</a:t>
            </a:r>
            <a:r>
              <a:rPr lang="en-US" dirty="0"/>
              <a:t>  el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interpretat</a:t>
            </a:r>
            <a:r>
              <a:rPr lang="en-US" dirty="0"/>
              <a:t> in mod </a:t>
            </a:r>
            <a:r>
              <a:rPr lang="en-US" dirty="0" err="1"/>
              <a:t>subiectiv</a:t>
            </a:r>
            <a:r>
              <a:rPr lang="en-US" dirty="0"/>
              <a:t> de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 . Din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motiv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difera</a:t>
            </a:r>
            <a:r>
              <a:rPr lang="en-US" dirty="0"/>
              <a:t> nu </a:t>
            </a:r>
            <a:r>
              <a:rPr lang="en-US" dirty="0" err="1"/>
              <a:t>doar</a:t>
            </a:r>
            <a:r>
              <a:rPr lang="en-US" dirty="0"/>
              <a:t> de </a:t>
            </a:r>
            <a:r>
              <a:rPr lang="en-US" dirty="0" err="1"/>
              <a:t>produs</a:t>
            </a:r>
            <a:r>
              <a:rPr lang="en-US" dirty="0"/>
              <a:t> 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de </a:t>
            </a:r>
            <a:r>
              <a:rPr lang="en-US" dirty="0" err="1"/>
              <a:t>contextul</a:t>
            </a:r>
            <a:r>
              <a:rPr lang="en-US" dirty="0"/>
              <a:t> in care </a:t>
            </a:r>
            <a:r>
              <a:rPr lang="en-US" dirty="0" err="1"/>
              <a:t>acesta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realizat</a:t>
            </a:r>
            <a:r>
              <a:rPr lang="en-US" dirty="0"/>
              <a:t> .</a:t>
            </a:r>
          </a:p>
          <a:p>
            <a:pPr marL="0" indent="0">
              <a:buNone/>
            </a:pPr>
            <a:r>
              <a:rPr lang="en-US" dirty="0"/>
              <a:t>          Cu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acestea</a:t>
            </a:r>
            <a:r>
              <a:rPr lang="en-US" dirty="0"/>
              <a:t> ,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interpretari</a:t>
            </a:r>
            <a:r>
              <a:rPr lang="en-US" dirty="0"/>
              <a:t> </a:t>
            </a:r>
            <a:r>
              <a:rPr lang="en-US" dirty="0" err="1"/>
              <a:t>obiective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calitatii</a:t>
            </a:r>
            <a:r>
              <a:rPr lang="en-US" dirty="0"/>
              <a:t> </a:t>
            </a:r>
            <a:r>
              <a:rPr lang="en-US" dirty="0" err="1"/>
              <a:t>printre</a:t>
            </a:r>
            <a:r>
              <a:rPr lang="en-US" dirty="0"/>
              <a:t> care: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8A9DCE-7C2E-41F8-98A9-1B38DF1EC6E5}"/>
              </a:ext>
            </a:extLst>
          </p:cNvPr>
          <p:cNvSpPr txBox="1"/>
          <p:nvPr/>
        </p:nvSpPr>
        <p:spPr>
          <a:xfrm>
            <a:off x="1215025" y="3620022"/>
            <a:ext cx="102588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</a:t>
            </a:r>
            <a:r>
              <a:rPr lang="en-US" b="1" dirty="0" err="1"/>
              <a:t>conformitate</a:t>
            </a:r>
            <a:r>
              <a:rPr lang="en-US" b="1" dirty="0"/>
              <a:t> cu </a:t>
            </a:r>
            <a:r>
              <a:rPr lang="en-US" b="1" dirty="0" err="1"/>
              <a:t>cerințele</a:t>
            </a:r>
            <a:r>
              <a:rPr lang="en-US" dirty="0"/>
              <a:t>" (Crosby)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</a:t>
            </a:r>
            <a:r>
              <a:rPr lang="en-US" b="1" dirty="0" err="1"/>
              <a:t>corespunzător</a:t>
            </a:r>
            <a:r>
              <a:rPr lang="en-US" b="1" dirty="0"/>
              <a:t> </a:t>
            </a:r>
            <a:r>
              <a:rPr lang="en-US" b="1" dirty="0" err="1"/>
              <a:t>pentru</a:t>
            </a:r>
            <a:r>
              <a:rPr lang="en-US" b="1" dirty="0"/>
              <a:t> </a:t>
            </a:r>
            <a:r>
              <a:rPr lang="en-US" b="1" dirty="0" err="1"/>
              <a:t>utilizare</a:t>
            </a:r>
            <a:r>
              <a:rPr lang="en-US" dirty="0"/>
              <a:t>" (Cf. </a:t>
            </a:r>
            <a:r>
              <a:rPr lang="en-US" dirty="0" err="1"/>
              <a:t>J.M.Juran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"</a:t>
            </a:r>
            <a:r>
              <a:rPr lang="en-US" b="1" dirty="0"/>
              <a:t>un </a:t>
            </a:r>
            <a:r>
              <a:rPr lang="en-US" b="1" dirty="0" err="1"/>
              <a:t>ansamblu</a:t>
            </a:r>
            <a:r>
              <a:rPr lang="en-US" b="1" dirty="0"/>
              <a:t> de </a:t>
            </a:r>
            <a:r>
              <a:rPr lang="en-US" b="1" dirty="0" err="1"/>
              <a:t>caracteristici</a:t>
            </a:r>
            <a:r>
              <a:rPr lang="en-US" b="1" dirty="0"/>
              <a:t> ale </a:t>
            </a:r>
            <a:r>
              <a:rPr lang="en-US" b="1" dirty="0" err="1"/>
              <a:t>unui</a:t>
            </a:r>
            <a:r>
              <a:rPr lang="en-US" b="1" dirty="0"/>
              <a:t> </a:t>
            </a:r>
            <a:r>
              <a:rPr lang="en-US" b="1" dirty="0" err="1"/>
              <a:t>produs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  <a:r>
              <a:rPr lang="en-US" b="1" dirty="0" err="1"/>
              <a:t>serviciu</a:t>
            </a:r>
            <a:r>
              <a:rPr lang="en-US" b="1" dirty="0"/>
              <a:t> care </a:t>
            </a:r>
            <a:r>
              <a:rPr lang="en-US" b="1" dirty="0" err="1"/>
              <a:t>îi</a:t>
            </a:r>
            <a:r>
              <a:rPr lang="en-US" b="1" dirty="0"/>
              <a:t> </a:t>
            </a:r>
            <a:r>
              <a:rPr lang="en-US" b="1" dirty="0" err="1"/>
              <a:t>conferă</a:t>
            </a:r>
            <a:r>
              <a:rPr lang="en-US" b="1" dirty="0"/>
              <a:t> </a:t>
            </a:r>
            <a:r>
              <a:rPr lang="en-US" b="1" dirty="0" err="1"/>
              <a:t>acestuia</a:t>
            </a:r>
            <a:r>
              <a:rPr lang="en-US" b="1" dirty="0"/>
              <a:t> </a:t>
            </a:r>
            <a:r>
              <a:rPr lang="en-US" b="1" dirty="0" err="1"/>
              <a:t>aptitudinea</a:t>
            </a:r>
            <a:r>
              <a:rPr lang="en-US" b="1" dirty="0"/>
              <a:t> de a </a:t>
            </a:r>
            <a:r>
              <a:rPr lang="en-US" b="1" dirty="0" err="1"/>
              <a:t>satisface</a:t>
            </a:r>
            <a:r>
              <a:rPr lang="en-US" b="1" dirty="0"/>
              <a:t> </a:t>
            </a:r>
            <a:r>
              <a:rPr lang="en-US" b="1" dirty="0" err="1"/>
              <a:t>necesități</a:t>
            </a:r>
            <a:r>
              <a:rPr lang="en-US" b="1" dirty="0"/>
              <a:t> </a:t>
            </a:r>
            <a:r>
              <a:rPr lang="en-US" b="1" dirty="0" err="1"/>
              <a:t>exprimate</a:t>
            </a:r>
            <a:r>
              <a:rPr lang="en-US" b="1" dirty="0"/>
              <a:t> </a:t>
            </a:r>
            <a:r>
              <a:rPr lang="en-US" b="1" dirty="0" err="1"/>
              <a:t>sau</a:t>
            </a:r>
            <a:r>
              <a:rPr lang="en-US" b="1" dirty="0"/>
              <a:t> </a:t>
            </a:r>
            <a:r>
              <a:rPr lang="en-US" b="1" dirty="0" err="1"/>
              <a:t>implicite</a:t>
            </a:r>
            <a:r>
              <a:rPr lang="en-US" dirty="0"/>
              <a:t>" (SR ISO 8402:1995)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64543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6BD5-8FF9-4C13-B93B-BEABFCF1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 </a:t>
            </a:r>
            <a:r>
              <a:rPr lang="en-US" dirty="0" err="1"/>
              <a:t>costul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9A818-648D-449E-A3B9-537A134C8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213723" cy="4023360"/>
          </a:xfrm>
        </p:spPr>
        <p:txBody>
          <a:bodyPr/>
          <a:lstStyle/>
          <a:p>
            <a:r>
              <a:rPr lang="en-US" dirty="0"/>
              <a:t>      </a:t>
            </a:r>
            <a:r>
              <a:rPr lang="en-US" dirty="0" err="1"/>
              <a:t>Prin</a:t>
            </a:r>
            <a:r>
              <a:rPr lang="en-US" dirty="0"/>
              <a:t> cost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intelege</a:t>
            </a:r>
            <a:r>
              <a:rPr lang="en-US" dirty="0"/>
              <a:t> </a:t>
            </a:r>
            <a:r>
              <a:rPr lang="en-US" dirty="0" err="1"/>
              <a:t>totalitatea</a:t>
            </a:r>
            <a:r>
              <a:rPr lang="en-US" dirty="0"/>
              <a:t> </a:t>
            </a:r>
            <a:r>
              <a:rPr lang="en-US" dirty="0" err="1"/>
              <a:t>resurselor</a:t>
            </a:r>
            <a:r>
              <a:rPr lang="en-US" dirty="0"/>
              <a:t> </a:t>
            </a:r>
            <a:r>
              <a:rPr lang="en-US" dirty="0" err="1"/>
              <a:t>utilizate</a:t>
            </a:r>
            <a:r>
              <a:rPr lang="en-US" dirty="0"/>
              <a:t> ,</a:t>
            </a:r>
            <a:r>
              <a:rPr lang="en-US" dirty="0" err="1"/>
              <a:t>pierdute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valorificate</a:t>
            </a:r>
            <a:r>
              <a:rPr lang="en-US" dirty="0"/>
              <a:t> in </a:t>
            </a:r>
            <a:r>
              <a:rPr lang="en-US" dirty="0" err="1"/>
              <a:t>timpul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activitati</a:t>
            </a:r>
            <a:r>
              <a:rPr lang="en-US" dirty="0"/>
              <a:t>. </a:t>
            </a:r>
          </a:p>
          <a:p>
            <a:r>
              <a:rPr lang="en-US" dirty="0"/>
              <a:t>     </a:t>
            </a:r>
            <a:r>
              <a:rPr lang="en-US" dirty="0" err="1"/>
              <a:t>Depinzand</a:t>
            </a:r>
            <a:r>
              <a:rPr lang="en-US" dirty="0"/>
              <a:t> de </a:t>
            </a:r>
            <a:r>
              <a:rPr lang="en-US" dirty="0" err="1"/>
              <a:t>domeniul</a:t>
            </a:r>
            <a:r>
              <a:rPr lang="en-US" dirty="0"/>
              <a:t> de </a:t>
            </a:r>
            <a:r>
              <a:rPr lang="en-US" dirty="0" err="1"/>
              <a:t>activitate</a:t>
            </a:r>
            <a:r>
              <a:rPr lang="en-US" dirty="0"/>
              <a:t> </a:t>
            </a:r>
            <a:r>
              <a:rPr lang="en-US" dirty="0" err="1"/>
              <a:t>resursele</a:t>
            </a:r>
            <a:r>
              <a:rPr lang="en-US" dirty="0"/>
              <a:t> </a:t>
            </a:r>
            <a:r>
              <a:rPr lang="en-US" dirty="0" err="1"/>
              <a:t>variaza</a:t>
            </a:r>
            <a:r>
              <a:rPr lang="en-US" dirty="0"/>
              <a:t> 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/>
              <a:t>resursele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comune</a:t>
            </a:r>
            <a:r>
              <a:rPr lang="en-US" dirty="0"/>
              <a:t> sunt:</a:t>
            </a:r>
          </a:p>
          <a:p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 err="1"/>
              <a:t>Timpul</a:t>
            </a:r>
            <a:r>
              <a:rPr lang="en-US" b="1" dirty="0"/>
              <a:t>  : </a:t>
            </a:r>
            <a:r>
              <a:rPr lang="en-US" dirty="0" err="1"/>
              <a:t>resursa</a:t>
            </a:r>
            <a:r>
              <a:rPr lang="en-US" dirty="0"/>
              <a:t> non-</a:t>
            </a:r>
            <a:r>
              <a:rPr lang="en-US" dirty="0" err="1"/>
              <a:t>regenerabila</a:t>
            </a:r>
            <a:r>
              <a:rPr lang="en-US" dirty="0"/>
              <a:t> , non-</a:t>
            </a:r>
            <a:r>
              <a:rPr lang="en-US" dirty="0" err="1"/>
              <a:t>reversibila</a:t>
            </a:r>
            <a:r>
              <a:rPr lang="en-US" dirty="0"/>
              <a:t> .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importanta</a:t>
            </a:r>
            <a:r>
              <a:rPr lang="en-US" dirty="0"/>
              <a:t> </a:t>
            </a:r>
            <a:r>
              <a:rPr lang="en-US" dirty="0" err="1"/>
              <a:t>deoarece</a:t>
            </a:r>
            <a:r>
              <a:rPr lang="en-US" dirty="0"/>
              <a:t> un </a:t>
            </a:r>
            <a:r>
              <a:rPr lang="en-US" dirty="0" err="1"/>
              <a:t>proiect</a:t>
            </a:r>
            <a:r>
              <a:rPr lang="en-US" dirty="0"/>
              <a:t> </a:t>
            </a:r>
            <a:r>
              <a:rPr lang="en-US" dirty="0" err="1"/>
              <a:t>terminat</a:t>
            </a:r>
            <a:r>
              <a:rPr lang="en-US" dirty="0"/>
              <a:t> </a:t>
            </a:r>
            <a:r>
              <a:rPr lang="en-US" dirty="0" err="1"/>
              <a:t>prea</a:t>
            </a:r>
            <a:r>
              <a:rPr lang="en-US" dirty="0"/>
              <a:t> </a:t>
            </a:r>
            <a:r>
              <a:rPr lang="en-US" dirty="0" err="1"/>
              <a:t>tarziu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pierde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valoreaza</a:t>
            </a:r>
            <a:r>
              <a:rPr lang="en-US" dirty="0"/>
              <a:t> </a:t>
            </a:r>
            <a:r>
              <a:rPr lang="en-US" dirty="0" err="1"/>
              <a:t>nimic</a:t>
            </a: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 err="1"/>
              <a:t>Banii</a:t>
            </a:r>
            <a:r>
              <a:rPr lang="en-US" b="1" dirty="0"/>
              <a:t> : </a:t>
            </a:r>
            <a:r>
              <a:rPr lang="en-US" dirty="0" err="1"/>
              <a:t>resursa</a:t>
            </a:r>
            <a:r>
              <a:rPr lang="en-US" dirty="0"/>
              <a:t> </a:t>
            </a:r>
            <a:r>
              <a:rPr lang="en-US" dirty="0" err="1"/>
              <a:t>aproape</a:t>
            </a:r>
            <a:r>
              <a:rPr lang="en-US" dirty="0"/>
              <a:t> </a:t>
            </a:r>
            <a:r>
              <a:rPr lang="en-US" dirty="0" err="1"/>
              <a:t>universala</a:t>
            </a:r>
            <a:r>
              <a:rPr lang="en-US" dirty="0"/>
              <a:t> , </a:t>
            </a:r>
            <a:r>
              <a:rPr lang="en-US" dirty="0" err="1"/>
              <a:t>folosita</a:t>
            </a:r>
            <a:r>
              <a:rPr lang="en-US" dirty="0"/>
              <a:t> la </a:t>
            </a:r>
            <a:r>
              <a:rPr lang="en-US" dirty="0" err="1"/>
              <a:t>valorificarea</a:t>
            </a:r>
            <a:r>
              <a:rPr lang="en-US" dirty="0"/>
              <a:t> </a:t>
            </a:r>
            <a:r>
              <a:rPr lang="en-US" dirty="0" err="1"/>
              <a:t>bunurilor</a:t>
            </a:r>
            <a:r>
              <a:rPr lang="en-US" dirty="0"/>
              <a:t> </a:t>
            </a:r>
            <a:r>
              <a:rPr lang="en-US" dirty="0" err="1"/>
              <a:t>materiale</a:t>
            </a:r>
            <a:br>
              <a:rPr lang="en-US" b="1" dirty="0"/>
            </a:b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838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E2D6-374B-45C7-9700-1EDADA56E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Costul</a:t>
            </a:r>
            <a:r>
              <a:rPr lang="en-US" dirty="0"/>
              <a:t> </a:t>
            </a:r>
            <a:r>
              <a:rPr lang="en-US" dirty="0" err="1"/>
              <a:t>Calitatii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25686-6DFD-4258-B02C-2104C120B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</a:t>
            </a:r>
            <a:r>
              <a:rPr lang="en-US" dirty="0" err="1"/>
              <a:t>Vazand</a:t>
            </a:r>
            <a:r>
              <a:rPr lang="en-US" dirty="0"/>
              <a:t> </a:t>
            </a:r>
            <a:r>
              <a:rPr lang="en-US" dirty="0" err="1"/>
              <a:t>lucrurile</a:t>
            </a:r>
            <a:r>
              <a:rPr lang="en-US" dirty="0"/>
              <a:t> din </a:t>
            </a:r>
            <a:r>
              <a:rPr lang="en-US" dirty="0" err="1"/>
              <a:t>perspectiva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doua</a:t>
            </a:r>
            <a:r>
              <a:rPr lang="en-US" dirty="0"/>
              <a:t> </a:t>
            </a:r>
            <a:r>
              <a:rPr lang="en-US" dirty="0" err="1"/>
              <a:t>concepte</a:t>
            </a:r>
            <a:r>
              <a:rPr lang="en-US" dirty="0"/>
              <a:t> ,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ajunge</a:t>
            </a:r>
            <a:r>
              <a:rPr lang="en-US" dirty="0"/>
              <a:t> la o mica </a:t>
            </a:r>
            <a:r>
              <a:rPr lang="en-US" dirty="0" err="1"/>
              <a:t>concluzie</a:t>
            </a:r>
            <a:r>
              <a:rPr lang="en-US" dirty="0"/>
              <a:t>.</a:t>
            </a:r>
          </a:p>
          <a:p>
            <a:pPr marL="201168" lvl="1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Costul</a:t>
            </a:r>
            <a:r>
              <a:rPr lang="en-US" sz="2000" dirty="0"/>
              <a:t> </a:t>
            </a:r>
            <a:r>
              <a:rPr lang="en-US" sz="2000" dirty="0" err="1"/>
              <a:t>calitatii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fi </a:t>
            </a:r>
            <a:r>
              <a:rPr lang="en-US" sz="2000" dirty="0" err="1"/>
              <a:t>vazut</a:t>
            </a:r>
            <a:r>
              <a:rPr lang="en-US" sz="2000" dirty="0"/>
              <a:t> ca </a:t>
            </a:r>
            <a:r>
              <a:rPr lang="en-US" sz="2000" dirty="0" err="1"/>
              <a:t>fiind</a:t>
            </a:r>
            <a:r>
              <a:rPr lang="en-US" sz="2000" dirty="0"/>
              <a:t> </a:t>
            </a:r>
            <a:r>
              <a:rPr lang="en-US" sz="2000" b="1" dirty="0" err="1"/>
              <a:t>compromisul</a:t>
            </a:r>
            <a:r>
              <a:rPr lang="en-US" sz="2000" b="1" dirty="0"/>
              <a:t> </a:t>
            </a:r>
            <a:r>
              <a:rPr lang="en-US" sz="2000" b="1" dirty="0" err="1"/>
              <a:t>intre</a:t>
            </a:r>
            <a:r>
              <a:rPr lang="en-US" sz="2000" b="1" dirty="0"/>
              <a:t> </a:t>
            </a:r>
            <a:r>
              <a:rPr lang="en-US" sz="2000" b="1" dirty="0" err="1"/>
              <a:t>calitatea</a:t>
            </a:r>
            <a:r>
              <a:rPr lang="en-US" sz="2000" b="1" dirty="0"/>
              <a:t> </a:t>
            </a:r>
            <a:r>
              <a:rPr lang="en-US" sz="2000" b="1" dirty="0" err="1"/>
              <a:t>produsului</a:t>
            </a:r>
            <a:r>
              <a:rPr lang="en-US" sz="2000" b="1" dirty="0"/>
              <a:t> </a:t>
            </a:r>
            <a:r>
              <a:rPr lang="en-US" sz="2000" b="1" dirty="0" err="1"/>
              <a:t>si</a:t>
            </a:r>
            <a:r>
              <a:rPr lang="en-US" sz="2000" b="1" dirty="0"/>
              <a:t> </a:t>
            </a:r>
            <a:r>
              <a:rPr lang="en-US" sz="2000" b="1" dirty="0" err="1"/>
              <a:t>resursele</a:t>
            </a:r>
            <a:r>
              <a:rPr lang="en-US" sz="2000" b="1" dirty="0"/>
              <a:t> </a:t>
            </a:r>
            <a:r>
              <a:rPr lang="en-US" sz="2000" b="1" dirty="0" err="1"/>
              <a:t>utilizate</a:t>
            </a:r>
            <a:r>
              <a:rPr lang="en-US" sz="2000" b="1" dirty="0"/>
              <a:t> in </a:t>
            </a:r>
            <a:r>
              <a:rPr lang="en-US" sz="2000" b="1" dirty="0" err="1"/>
              <a:t>crearea</a:t>
            </a:r>
            <a:r>
              <a:rPr lang="en-US" sz="2000" b="1" dirty="0"/>
              <a:t> </a:t>
            </a:r>
            <a:r>
              <a:rPr lang="en-US" sz="2000" b="1" dirty="0" err="1"/>
              <a:t>acestuia</a:t>
            </a:r>
            <a:r>
              <a:rPr lang="en-US" sz="2000" b="1" dirty="0"/>
              <a:t>.</a:t>
            </a:r>
          </a:p>
          <a:p>
            <a:pPr marL="201168" lvl="1" indent="0">
              <a:buNone/>
            </a:pPr>
            <a:r>
              <a:rPr lang="en-US" sz="2000" dirty="0"/>
              <a:t>   </a:t>
            </a:r>
            <a:r>
              <a:rPr lang="en-US" sz="2000" dirty="0" err="1"/>
              <a:t>Daca</a:t>
            </a:r>
            <a:r>
              <a:rPr lang="en-US" sz="2000" dirty="0"/>
              <a:t> </a:t>
            </a:r>
            <a:r>
              <a:rPr lang="en-US" sz="2000" dirty="0" err="1"/>
              <a:t>ar</a:t>
            </a:r>
            <a:r>
              <a:rPr lang="en-US" sz="2000" dirty="0"/>
              <a:t> fi </a:t>
            </a:r>
            <a:r>
              <a:rPr lang="en-US" sz="2000" dirty="0" err="1"/>
              <a:t>sa</a:t>
            </a:r>
            <a:r>
              <a:rPr lang="en-US" sz="2000" dirty="0"/>
              <a:t> ne </a:t>
            </a:r>
            <a:r>
              <a:rPr lang="en-US" sz="2000" dirty="0" err="1"/>
              <a:t>raportam</a:t>
            </a:r>
            <a:r>
              <a:rPr lang="en-US" sz="2000" dirty="0"/>
              <a:t> la un </a:t>
            </a:r>
            <a:r>
              <a:rPr lang="en-US" sz="2000" dirty="0" err="1"/>
              <a:t>proiect</a:t>
            </a:r>
            <a:r>
              <a:rPr lang="en-US" sz="2000" dirty="0"/>
              <a:t> , </a:t>
            </a:r>
            <a:r>
              <a:rPr lang="en-US" sz="2000" dirty="0" err="1"/>
              <a:t>atunci</a:t>
            </a:r>
            <a:r>
              <a:rPr lang="en-US" sz="2000" dirty="0"/>
              <a:t> </a:t>
            </a:r>
            <a:r>
              <a:rPr lang="en-US" sz="2000" dirty="0" err="1"/>
              <a:t>costul</a:t>
            </a:r>
            <a:r>
              <a:rPr lang="en-US" sz="2000" dirty="0"/>
              <a:t> </a:t>
            </a:r>
            <a:r>
              <a:rPr lang="en-US" sz="2000" dirty="0" err="1"/>
              <a:t>calitatii</a:t>
            </a:r>
            <a:r>
              <a:rPr lang="en-US" sz="2000" dirty="0"/>
              <a:t> </a:t>
            </a:r>
            <a:r>
              <a:rPr lang="en-US" sz="2000" dirty="0" err="1"/>
              <a:t>ar</a:t>
            </a:r>
            <a:r>
              <a:rPr lang="en-US" sz="2000" dirty="0"/>
              <a:t> fi </a:t>
            </a:r>
            <a:r>
              <a:rPr lang="en-US" sz="2000" dirty="0" err="1"/>
              <a:t>investitia</a:t>
            </a:r>
            <a:r>
              <a:rPr lang="en-US" sz="2000" dirty="0"/>
              <a:t> pe care </a:t>
            </a:r>
            <a:r>
              <a:rPr lang="en-US" sz="2000" dirty="0" err="1"/>
              <a:t>proiectul</a:t>
            </a:r>
            <a:r>
              <a:rPr lang="en-US" sz="2000" dirty="0"/>
              <a:t> o </a:t>
            </a:r>
            <a:r>
              <a:rPr lang="en-US" sz="2000" dirty="0" err="1"/>
              <a:t>suporta</a:t>
            </a:r>
            <a:r>
              <a:rPr lang="en-US" sz="2000" dirty="0"/>
              <a:t> , in </a:t>
            </a:r>
            <a:r>
              <a:rPr lang="en-US" sz="2000" dirty="0" err="1"/>
              <a:t>incercarea</a:t>
            </a:r>
            <a:r>
              <a:rPr lang="en-US" sz="2000" dirty="0"/>
              <a:t> de a </a:t>
            </a:r>
            <a:r>
              <a:rPr lang="en-US" sz="2000" dirty="0" err="1"/>
              <a:t>oferi</a:t>
            </a:r>
            <a:r>
              <a:rPr lang="en-US" sz="2000" dirty="0"/>
              <a:t> un </a:t>
            </a:r>
            <a:r>
              <a:rPr lang="en-US" sz="2000" dirty="0" err="1"/>
              <a:t>produs</a:t>
            </a:r>
            <a:r>
              <a:rPr lang="en-US" sz="2000" dirty="0"/>
              <a:t> de </a:t>
            </a:r>
            <a:r>
              <a:rPr lang="en-US" sz="2000" dirty="0" err="1"/>
              <a:t>calitate</a:t>
            </a:r>
            <a:r>
              <a:rPr lang="en-US" sz="2000" dirty="0"/>
              <a:t> . De </a:t>
            </a:r>
            <a:r>
              <a:rPr lang="en-US" sz="2000" dirty="0" err="1"/>
              <a:t>exemplu</a:t>
            </a:r>
            <a:r>
              <a:rPr lang="en-US" sz="2000" dirty="0"/>
              <a:t> :</a:t>
            </a:r>
          </a:p>
          <a:p>
            <a:pPr marL="201168" lvl="1" indent="0">
              <a:buNone/>
            </a:pPr>
            <a:endParaRPr lang="en-US" sz="2000" dirty="0"/>
          </a:p>
          <a:p>
            <a:pPr lvl="1"/>
            <a:r>
              <a:rPr lang="en-US" sz="2000" dirty="0"/>
              <a:t>  </a:t>
            </a:r>
            <a:r>
              <a:rPr lang="en-US" sz="2000" dirty="0" err="1"/>
              <a:t>verificare</a:t>
            </a:r>
            <a:r>
              <a:rPr lang="en-US" sz="2000" dirty="0"/>
              <a:t> (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reverificare</a:t>
            </a:r>
            <a:r>
              <a:rPr lang="en-US" sz="2000" dirty="0"/>
              <a:t> ) a </a:t>
            </a:r>
            <a:r>
              <a:rPr lang="en-US" sz="2000" dirty="0" err="1"/>
              <a:t>produsului</a:t>
            </a:r>
            <a:r>
              <a:rPr lang="en-US" sz="2000" dirty="0"/>
              <a:t>  -&gt;&gt;  </a:t>
            </a:r>
            <a:r>
              <a:rPr lang="en-US" sz="2000" b="1" dirty="0" err="1"/>
              <a:t>timp</a:t>
            </a:r>
            <a:r>
              <a:rPr lang="en-US" sz="2000" b="1" dirty="0"/>
              <a:t>  </a:t>
            </a:r>
            <a:r>
              <a:rPr lang="en-US" sz="2000" b="1" dirty="0" err="1"/>
              <a:t>si</a:t>
            </a:r>
            <a:r>
              <a:rPr lang="en-US" sz="2000" b="1" dirty="0"/>
              <a:t> </a:t>
            </a:r>
            <a:r>
              <a:rPr lang="en-US" sz="2000" b="1" dirty="0" err="1"/>
              <a:t>bani</a:t>
            </a:r>
            <a:endParaRPr lang="en-US" sz="2000" b="1" dirty="0"/>
          </a:p>
          <a:p>
            <a:pPr lvl="1"/>
            <a:r>
              <a:rPr lang="en-US" sz="2000" dirty="0"/>
              <a:t>  training-</a:t>
            </a:r>
            <a:r>
              <a:rPr lang="en-US" sz="2000" dirty="0" err="1"/>
              <a:t>uri</a:t>
            </a:r>
            <a:r>
              <a:rPr lang="en-US" sz="2000" dirty="0"/>
              <a:t> de </a:t>
            </a:r>
            <a:r>
              <a:rPr lang="en-US" sz="2000" dirty="0" err="1"/>
              <a:t>specializare</a:t>
            </a:r>
            <a:r>
              <a:rPr lang="en-US" sz="2000" dirty="0"/>
              <a:t> a staff-</a:t>
            </a:r>
            <a:r>
              <a:rPr lang="en-US" sz="2000" dirty="0" err="1"/>
              <a:t>ului</a:t>
            </a:r>
            <a:r>
              <a:rPr lang="en-US" sz="2000" dirty="0"/>
              <a:t> in </a:t>
            </a:r>
            <a:r>
              <a:rPr lang="en-US" sz="2000" dirty="0" err="1"/>
              <a:t>practici</a:t>
            </a:r>
            <a:r>
              <a:rPr lang="en-US" sz="2000" dirty="0"/>
              <a:t> indicate  -&gt;&gt; </a:t>
            </a:r>
            <a:r>
              <a:rPr lang="en-US" sz="2000" b="1" dirty="0" err="1"/>
              <a:t>timp</a:t>
            </a:r>
            <a:r>
              <a:rPr lang="en-US" sz="2000" b="1" dirty="0"/>
              <a:t> </a:t>
            </a:r>
            <a:r>
              <a:rPr lang="en-US" sz="2000" b="1" dirty="0" err="1"/>
              <a:t>si</a:t>
            </a:r>
            <a:r>
              <a:rPr lang="en-US" sz="2000" b="1" dirty="0"/>
              <a:t> </a:t>
            </a:r>
            <a:r>
              <a:rPr lang="en-US" sz="2000" b="1" dirty="0" err="1"/>
              <a:t>bani</a:t>
            </a:r>
            <a:r>
              <a:rPr lang="en-US" sz="20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5328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F5F59-4DAF-46CE-8939-2AEE6F79A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 la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scop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6A322-84FD-453E-A6DD-7B86396F9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</a:t>
            </a:r>
            <a:r>
              <a:rPr lang="en-US" dirty="0" err="1"/>
              <a:t>Orice</a:t>
            </a:r>
            <a:r>
              <a:rPr lang="en-US" dirty="0"/>
              <a:t> </a:t>
            </a:r>
            <a:r>
              <a:rPr lang="en-US" dirty="0" err="1"/>
              <a:t>producator</a:t>
            </a:r>
            <a:r>
              <a:rPr lang="en-US" dirty="0"/>
              <a:t> , </a:t>
            </a:r>
            <a:r>
              <a:rPr lang="en-US" dirty="0" err="1"/>
              <a:t>indiferent</a:t>
            </a:r>
            <a:r>
              <a:rPr lang="en-US" dirty="0"/>
              <a:t> de </a:t>
            </a:r>
            <a:r>
              <a:rPr lang="en-US" dirty="0" err="1"/>
              <a:t>domeniu</a:t>
            </a:r>
            <a:r>
              <a:rPr lang="en-US" dirty="0"/>
              <a:t> , care </a:t>
            </a:r>
            <a:r>
              <a:rPr lang="en-US" dirty="0" err="1"/>
              <a:t>doreste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ramana</a:t>
            </a:r>
            <a:r>
              <a:rPr lang="en-US" dirty="0"/>
              <a:t> pe </a:t>
            </a:r>
            <a:r>
              <a:rPr lang="en-US" dirty="0" err="1"/>
              <a:t>piata</a:t>
            </a:r>
            <a:r>
              <a:rPr lang="en-US" dirty="0"/>
              <a:t> nu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ignore </a:t>
            </a:r>
            <a:r>
              <a:rPr lang="en-US" dirty="0" err="1"/>
              <a:t>conceptul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. 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produsului</a:t>
            </a:r>
            <a:r>
              <a:rPr lang="en-US" dirty="0"/>
              <a:t> </a:t>
            </a:r>
            <a:r>
              <a:rPr lang="en-US" dirty="0" err="1"/>
              <a:t>scoate</a:t>
            </a:r>
            <a:r>
              <a:rPr lang="en-US" dirty="0"/>
              <a:t> in </a:t>
            </a:r>
            <a:r>
              <a:rPr lang="en-US" dirty="0" err="1"/>
              <a:t>evidenta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lucruri</a:t>
            </a:r>
            <a:r>
              <a:rPr lang="en-US" dirty="0"/>
              <a:t> </a:t>
            </a:r>
            <a:r>
              <a:rPr lang="en-US" dirty="0" err="1"/>
              <a:t>despre</a:t>
            </a:r>
            <a:r>
              <a:rPr lang="en-US" dirty="0"/>
              <a:t> </a:t>
            </a:r>
            <a:r>
              <a:rPr lang="en-US" dirty="0" err="1"/>
              <a:t>producator</a:t>
            </a:r>
            <a:r>
              <a:rPr lang="en-US" dirty="0"/>
              <a:t> , cum </a:t>
            </a:r>
            <a:r>
              <a:rPr lang="en-US" dirty="0" err="1"/>
              <a:t>ar</a:t>
            </a:r>
            <a:r>
              <a:rPr lang="en-US" dirty="0"/>
              <a:t> fi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Seriozitatea</a:t>
            </a:r>
            <a:r>
              <a:rPr lang="en-US" dirty="0"/>
              <a:t> cu care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trateaza</a:t>
            </a:r>
            <a:r>
              <a:rPr lang="en-US" dirty="0"/>
              <a:t> </a:t>
            </a:r>
            <a:r>
              <a:rPr lang="en-US" dirty="0" err="1"/>
              <a:t>clientii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Seriozitatea</a:t>
            </a:r>
            <a:r>
              <a:rPr lang="en-US" dirty="0"/>
              <a:t> cu care </a:t>
            </a:r>
            <a:r>
              <a:rPr lang="en-US" dirty="0" err="1"/>
              <a:t>angajatii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respecta</a:t>
            </a:r>
            <a:r>
              <a:rPr lang="en-US" dirty="0"/>
              <a:t> </a:t>
            </a:r>
            <a:r>
              <a:rPr lang="en-US" dirty="0" err="1"/>
              <a:t>munca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Atitudinea</a:t>
            </a:r>
            <a:r>
              <a:rPr lang="en-US" dirty="0"/>
              <a:t> fata de competitor a </a:t>
            </a:r>
            <a:r>
              <a:rPr lang="en-US" dirty="0" err="1"/>
              <a:t>producatorului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Aspiratiile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viziunea</a:t>
            </a:r>
            <a:r>
              <a:rPr lang="en-US" dirty="0"/>
              <a:t> de </a:t>
            </a:r>
            <a:r>
              <a:rPr lang="en-US" dirty="0" err="1"/>
              <a:t>viitor</a:t>
            </a:r>
            <a:r>
              <a:rPr lang="en-US" dirty="0"/>
              <a:t> a </a:t>
            </a:r>
            <a:r>
              <a:rPr lang="en-US" dirty="0" err="1"/>
              <a:t>firmei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Deci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produsului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mod implicit de </a:t>
            </a:r>
            <a:r>
              <a:rPr lang="en-US" dirty="0" err="1"/>
              <a:t>comunicare</a:t>
            </a:r>
            <a:r>
              <a:rPr lang="en-US" dirty="0"/>
              <a:t> cu </a:t>
            </a:r>
            <a:r>
              <a:rPr lang="en-US" dirty="0" err="1"/>
              <a:t>clientul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viitorii</a:t>
            </a:r>
            <a:r>
              <a:rPr lang="en-US" dirty="0"/>
              <a:t> </a:t>
            </a:r>
            <a:r>
              <a:rPr lang="en-US" dirty="0" err="1"/>
              <a:t>clienti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  De </a:t>
            </a:r>
            <a:r>
              <a:rPr lang="en-US" dirty="0" err="1"/>
              <a:t>aceea</a:t>
            </a:r>
            <a:r>
              <a:rPr lang="en-US" dirty="0"/>
              <a:t> </a:t>
            </a:r>
            <a:r>
              <a:rPr lang="en-US" dirty="0" err="1"/>
              <a:t>cei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longevivi</a:t>
            </a:r>
            <a:r>
              <a:rPr lang="en-US" dirty="0"/>
              <a:t> </a:t>
            </a:r>
            <a:r>
              <a:rPr lang="en-US" dirty="0" err="1"/>
              <a:t>producatori</a:t>
            </a:r>
            <a:r>
              <a:rPr lang="en-US" dirty="0"/>
              <a:t> sunt </a:t>
            </a:r>
            <a:r>
              <a:rPr lang="en-US" dirty="0" err="1"/>
              <a:t>aceia</a:t>
            </a:r>
            <a:r>
              <a:rPr lang="en-US" dirty="0"/>
              <a:t> care au </a:t>
            </a:r>
            <a:r>
              <a:rPr lang="en-US" dirty="0" err="1"/>
              <a:t>reusit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iasa</a:t>
            </a:r>
            <a:r>
              <a:rPr lang="en-US" dirty="0"/>
              <a:t> in </a:t>
            </a:r>
            <a:r>
              <a:rPr lang="en-US" dirty="0" err="1"/>
              <a:t>evidenta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 / </a:t>
            </a:r>
            <a:r>
              <a:rPr lang="en-US" dirty="0" err="1"/>
              <a:t>serviciilor</a:t>
            </a:r>
            <a:r>
              <a:rPr lang="en-US" dirty="0"/>
              <a:t> pe care le </a:t>
            </a:r>
            <a:r>
              <a:rPr lang="en-US" dirty="0" err="1"/>
              <a:t>ofera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9467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07128-4161-40FB-B36A-28632296A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Reputatia</a:t>
            </a:r>
            <a:r>
              <a:rPr lang="en-US" dirty="0"/>
              <a:t> brand-</a:t>
            </a:r>
            <a:r>
              <a:rPr lang="en-US" dirty="0" err="1"/>
              <a:t>ului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00ADA-99DC-48B0-8BE0-5A2BE39F6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78229"/>
          </a:xfrm>
        </p:spPr>
        <p:txBody>
          <a:bodyPr/>
          <a:lstStyle/>
          <a:p>
            <a:pPr algn="ctr"/>
            <a:r>
              <a:rPr lang="en-US" dirty="0"/>
              <a:t>           O </a:t>
            </a:r>
            <a:r>
              <a:rPr lang="en-US" dirty="0" err="1"/>
              <a:t>calitate</a:t>
            </a:r>
            <a:r>
              <a:rPr lang="en-US" dirty="0"/>
              <a:t> </a:t>
            </a:r>
            <a:r>
              <a:rPr lang="en-US" dirty="0" err="1"/>
              <a:t>buna</a:t>
            </a:r>
            <a:r>
              <a:rPr lang="en-US" dirty="0"/>
              <a:t> a </a:t>
            </a:r>
            <a:r>
              <a:rPr lang="en-US" dirty="0" err="1"/>
              <a:t>produsului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bun </a:t>
            </a:r>
            <a:r>
              <a:rPr lang="en-US" dirty="0" err="1"/>
              <a:t>fel</a:t>
            </a:r>
            <a:r>
              <a:rPr lang="en-US" dirty="0"/>
              <a:t> de reclama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FDDFDB-2741-40FB-8220-ED7A5CF4B5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511" y="2329083"/>
            <a:ext cx="2466975" cy="185737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BD2C6EA5-FDE4-4787-8062-7DCEE74E38FB}"/>
              </a:ext>
            </a:extLst>
          </p:cNvPr>
          <p:cNvSpPr/>
          <p:nvPr/>
        </p:nvSpPr>
        <p:spPr>
          <a:xfrm>
            <a:off x="4586292" y="301290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0C97BE-9B77-4C2C-A1AB-1303F09F4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301" y="2329083"/>
            <a:ext cx="3288827" cy="18522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A389A4-3E9A-40E0-9D5B-5FF63C219BA2}"/>
              </a:ext>
            </a:extLst>
          </p:cNvPr>
          <p:cNvSpPr txBox="1"/>
          <p:nvPr/>
        </p:nvSpPr>
        <p:spPr>
          <a:xfrm>
            <a:off x="1526797" y="4605556"/>
            <a:ext cx="89342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De </a:t>
            </a:r>
            <a:r>
              <a:rPr lang="en-US" dirty="0" err="1"/>
              <a:t>exemplu</a:t>
            </a:r>
            <a:r>
              <a:rPr lang="en-US" dirty="0"/>
              <a:t> , </a:t>
            </a:r>
            <a:r>
              <a:rPr lang="en-US" dirty="0" err="1"/>
              <a:t>Porche</a:t>
            </a:r>
            <a:r>
              <a:rPr lang="en-US" dirty="0"/>
              <a:t> a </a:t>
            </a:r>
            <a:r>
              <a:rPr lang="en-US" dirty="0" err="1"/>
              <a:t>reusit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consolideze</a:t>
            </a:r>
            <a:r>
              <a:rPr lang="en-US" dirty="0"/>
              <a:t> o </a:t>
            </a:r>
            <a:r>
              <a:rPr lang="en-US" dirty="0" err="1"/>
              <a:t>pozitie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buna</a:t>
            </a:r>
            <a:r>
              <a:rPr lang="en-US" dirty="0"/>
              <a:t> in </a:t>
            </a:r>
            <a:r>
              <a:rPr lang="en-US" dirty="0" err="1"/>
              <a:t>piata</a:t>
            </a:r>
            <a:r>
              <a:rPr lang="en-US" dirty="0"/>
              <a:t> auto </a:t>
            </a:r>
            <a:r>
              <a:rPr lang="en-US" dirty="0" err="1"/>
              <a:t>mondiala</a:t>
            </a:r>
            <a:r>
              <a:rPr lang="en-US" dirty="0"/>
              <a:t> </a:t>
            </a:r>
            <a:r>
              <a:rPr lang="en-US" dirty="0" err="1"/>
              <a:t>inca</a:t>
            </a:r>
            <a:r>
              <a:rPr lang="en-US" dirty="0"/>
              <a:t> de la </a:t>
            </a:r>
            <a:r>
              <a:rPr lang="en-US" dirty="0" err="1"/>
              <a:t>intrarea</a:t>
            </a:r>
            <a:r>
              <a:rPr lang="en-US" dirty="0"/>
              <a:t> pe </a:t>
            </a:r>
            <a:r>
              <a:rPr lang="en-US" dirty="0" err="1"/>
              <a:t>piata</a:t>
            </a:r>
            <a:r>
              <a:rPr lang="en-US" dirty="0"/>
              <a:t> ,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nu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primii</a:t>
            </a:r>
            <a:r>
              <a:rPr lang="en-US" dirty="0"/>
              <a:t> , </a:t>
            </a:r>
            <a:r>
              <a:rPr lang="en-US" dirty="0" err="1"/>
              <a:t>renumele</a:t>
            </a:r>
            <a:r>
              <a:rPr lang="en-US" dirty="0"/>
              <a:t> </a:t>
            </a:r>
            <a:r>
              <a:rPr lang="en-US" dirty="0" err="1"/>
              <a:t>marcii</a:t>
            </a:r>
            <a:r>
              <a:rPr lang="en-US" dirty="0"/>
              <a:t> a </a:t>
            </a:r>
            <a:r>
              <a:rPr lang="en-US" dirty="0" err="1"/>
              <a:t>explodat</a:t>
            </a:r>
            <a:r>
              <a:rPr lang="en-US" dirty="0"/>
              <a:t> </a:t>
            </a:r>
            <a:r>
              <a:rPr lang="en-US" dirty="0" err="1"/>
              <a:t>datorita</a:t>
            </a:r>
            <a:r>
              <a:rPr lang="en-US" dirty="0"/>
              <a:t> </a:t>
            </a:r>
            <a:r>
              <a:rPr lang="en-US" dirty="0" err="1"/>
              <a:t>calitatii</a:t>
            </a:r>
            <a:r>
              <a:rPr lang="en-US" dirty="0"/>
              <a:t> </a:t>
            </a:r>
            <a:r>
              <a:rPr lang="en-US" dirty="0" err="1"/>
              <a:t>produselor</a:t>
            </a:r>
            <a:r>
              <a:rPr lang="en-US" dirty="0"/>
              <a:t> ( in special </a:t>
            </a:r>
            <a:r>
              <a:rPr lang="en-US" dirty="0" err="1"/>
              <a:t>datorita</a:t>
            </a:r>
            <a:r>
              <a:rPr lang="en-US" dirty="0"/>
              <a:t> </a:t>
            </a:r>
            <a:r>
              <a:rPr lang="en-US" dirty="0" err="1"/>
              <a:t>modelului</a:t>
            </a:r>
            <a:r>
              <a:rPr lang="en-US" dirty="0"/>
              <a:t> 911 , </a:t>
            </a:r>
            <a:r>
              <a:rPr lang="en-US" dirty="0" err="1"/>
              <a:t>primul</a:t>
            </a:r>
            <a:r>
              <a:rPr lang="en-US" dirty="0"/>
              <a:t> model cu care au </a:t>
            </a:r>
            <a:r>
              <a:rPr lang="en-US" dirty="0" err="1"/>
              <a:t>scris</a:t>
            </a:r>
            <a:r>
              <a:rPr lang="en-US" dirty="0"/>
              <a:t> </a:t>
            </a:r>
            <a:r>
              <a:rPr lang="en-US" dirty="0" err="1"/>
              <a:t>istorie</a:t>
            </a:r>
            <a:r>
              <a:rPr lang="en-US" dirty="0"/>
              <a:t>).</a:t>
            </a:r>
          </a:p>
          <a:p>
            <a:r>
              <a:rPr lang="en-US" dirty="0"/>
              <a:t>    </a:t>
            </a:r>
            <a:r>
              <a:rPr lang="en-US" dirty="0" err="1"/>
              <a:t>Calitatea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cel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urmarit</a:t>
            </a:r>
            <a:r>
              <a:rPr lang="en-US" dirty="0"/>
              <a:t> concept al </a:t>
            </a:r>
            <a:r>
              <a:rPr lang="en-US" dirty="0" err="1"/>
              <a:t>lor</a:t>
            </a:r>
            <a:r>
              <a:rPr lang="en-US" dirty="0"/>
              <a:t> ,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inainte</a:t>
            </a:r>
            <a:r>
              <a:rPr lang="en-US" dirty="0"/>
              <a:t> ca </a:t>
            </a:r>
            <a:r>
              <a:rPr lang="en-US" dirty="0" err="1"/>
              <a:t>marca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fie </a:t>
            </a:r>
            <a:r>
              <a:rPr lang="en-US" dirty="0" err="1"/>
              <a:t>asociata</a:t>
            </a:r>
            <a:r>
              <a:rPr lang="en-US" dirty="0"/>
              <a:t> cu </a:t>
            </a:r>
            <a:r>
              <a:rPr lang="en-US" dirty="0" err="1"/>
              <a:t>conceptul</a:t>
            </a:r>
            <a:r>
              <a:rPr lang="en-US" dirty="0"/>
              <a:t> de  </a:t>
            </a:r>
            <a:r>
              <a:rPr lang="en-US" dirty="0" err="1"/>
              <a:t>masinina</a:t>
            </a:r>
            <a:r>
              <a:rPr lang="en-US" dirty="0"/>
              <a:t> de lux.</a:t>
            </a:r>
          </a:p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1229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B840-1289-4061-B6A3-BD71E1DE4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Costuri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fara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investesti</a:t>
            </a:r>
            <a:r>
              <a:rPr lang="en-US" dirty="0"/>
              <a:t>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145AD-EF52-49EB-B785-C4DBD649DD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509861"/>
          </a:xfrm>
        </p:spPr>
        <p:txBody>
          <a:bodyPr>
            <a:normAutofit/>
          </a:bodyPr>
          <a:lstStyle/>
          <a:p>
            <a:r>
              <a:rPr lang="en-US" sz="4200" dirty="0"/>
              <a:t> 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avantajele</a:t>
            </a:r>
            <a:r>
              <a:rPr lang="en-US" dirty="0"/>
              <a:t> </a:t>
            </a:r>
            <a:r>
              <a:rPr lang="en-US" dirty="0" err="1"/>
              <a:t>urmaririi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abordari</a:t>
            </a:r>
            <a:r>
              <a:rPr lang="en-US" dirty="0"/>
              <a:t> </a:t>
            </a:r>
            <a:r>
              <a:rPr lang="en-US" dirty="0" err="1"/>
              <a:t>calitative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evita</a:t>
            </a:r>
            <a:r>
              <a:rPr lang="en-US" dirty="0"/>
              <a:t> </a:t>
            </a:r>
            <a:r>
              <a:rPr lang="en-US" dirty="0" err="1"/>
              <a:t>cheltuieli</a:t>
            </a:r>
            <a:r>
              <a:rPr lang="en-US" dirty="0"/>
              <a:t> “</a:t>
            </a:r>
            <a:r>
              <a:rPr lang="en-US" dirty="0" err="1"/>
              <a:t>nejustificate</a:t>
            </a:r>
            <a:r>
              <a:rPr lang="en-US" dirty="0"/>
              <a:t>”,</a:t>
            </a:r>
          </a:p>
          <a:p>
            <a:r>
              <a:rPr lang="en-US" dirty="0"/>
              <a:t>un </a:t>
            </a:r>
            <a:r>
              <a:rPr lang="en-US" dirty="0" err="1"/>
              <a:t>produs</a:t>
            </a:r>
            <a:r>
              <a:rPr lang="en-US" dirty="0"/>
              <a:t> slab </a:t>
            </a:r>
            <a:r>
              <a:rPr lang="en-US" dirty="0" err="1"/>
              <a:t>atrage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o </a:t>
            </a:r>
            <a:r>
              <a:rPr lang="en-US" b="1" dirty="0" err="1"/>
              <a:t>reputatie</a:t>
            </a:r>
            <a:r>
              <a:rPr lang="en-US" b="1" dirty="0"/>
              <a:t> </a:t>
            </a:r>
            <a:r>
              <a:rPr lang="en-US" b="1" dirty="0" err="1"/>
              <a:t>slaba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93118F-2911-4507-9527-752257919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989" y="4255027"/>
            <a:ext cx="3028950" cy="1514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AE8400-4D58-410B-B79F-FF32F4D59AEC}"/>
              </a:ext>
            </a:extLst>
          </p:cNvPr>
          <p:cNvSpPr txBox="1"/>
          <p:nvPr/>
        </p:nvSpPr>
        <p:spPr>
          <a:xfrm>
            <a:off x="1768585" y="3620645"/>
            <a:ext cx="1382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Remember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250F12-4587-4A88-9435-BF982072A99B}"/>
              </a:ext>
            </a:extLst>
          </p:cNvPr>
          <p:cNvSpPr txBox="1"/>
          <p:nvPr/>
        </p:nvSpPr>
        <p:spPr>
          <a:xfrm>
            <a:off x="4796825" y="4292174"/>
            <a:ext cx="63588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Lipsa</a:t>
            </a:r>
            <a:r>
              <a:rPr lang="en-US" dirty="0"/>
              <a:t> </a:t>
            </a:r>
            <a:r>
              <a:rPr lang="en-US" dirty="0" err="1"/>
              <a:t>totala</a:t>
            </a:r>
            <a:r>
              <a:rPr lang="en-US" dirty="0"/>
              <a:t> a </a:t>
            </a:r>
            <a:r>
              <a:rPr lang="en-US" dirty="0" err="1"/>
              <a:t>adaptabilitatii</a:t>
            </a:r>
            <a:r>
              <a:rPr lang="en-US" dirty="0"/>
              <a:t> la </a:t>
            </a:r>
            <a:r>
              <a:rPr lang="en-US" dirty="0" err="1"/>
              <a:t>cerintele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tot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mari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Vulnerabilitati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d.p.d.v</a:t>
            </a:r>
            <a:r>
              <a:rPr lang="en-US" dirty="0"/>
              <a:t> al </a:t>
            </a:r>
            <a:r>
              <a:rPr lang="en-US" dirty="0" err="1"/>
              <a:t>securitatii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519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0A2B2-9862-449B-9DAE-4054C4D0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 cum se traduce </a:t>
            </a:r>
            <a:r>
              <a:rPr lang="en-US" dirty="0" err="1"/>
              <a:t>asta</a:t>
            </a:r>
            <a:r>
              <a:rPr lang="en-US" dirty="0"/>
              <a:t> in cost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ED7E2-0C27-44CC-9FF6-8B8F0AEEB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Pierderile</a:t>
            </a:r>
            <a:r>
              <a:rPr lang="en-US" dirty="0"/>
              <a:t> </a:t>
            </a:r>
            <a:r>
              <a:rPr lang="en-US" dirty="0" err="1"/>
              <a:t>inregistrate</a:t>
            </a:r>
            <a:r>
              <a:rPr lang="en-US" dirty="0"/>
              <a:t> nu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de </a:t>
            </a:r>
            <a:r>
              <a:rPr lang="en-US" dirty="0" err="1"/>
              <a:t>reputatie</a:t>
            </a:r>
            <a:r>
              <a:rPr lang="en-US" dirty="0"/>
              <a:t>. Dar </a:t>
            </a:r>
            <a:r>
              <a:rPr lang="en-US" dirty="0" err="1"/>
              <a:t>datorita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Yahoo! a </a:t>
            </a:r>
            <a:r>
              <a:rPr lang="en-US" dirty="0" err="1"/>
              <a:t>pierdut</a:t>
            </a:r>
            <a:r>
              <a:rPr lang="en-US" dirty="0"/>
              <a:t> :</a:t>
            </a:r>
          </a:p>
          <a:p>
            <a:pPr lvl="1"/>
            <a:r>
              <a:rPr lang="en-US" dirty="0" err="1"/>
              <a:t>useri</a:t>
            </a:r>
            <a:r>
              <a:rPr lang="en-US" dirty="0"/>
              <a:t> (</a:t>
            </a:r>
            <a:r>
              <a:rPr lang="en-US" dirty="0" err="1"/>
              <a:t>clienti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investitori</a:t>
            </a:r>
            <a:endParaRPr lang="en-US" dirty="0"/>
          </a:p>
          <a:p>
            <a:pPr lvl="1"/>
            <a:r>
              <a:rPr lang="en-US" dirty="0" err="1"/>
              <a:t>contracte</a:t>
            </a:r>
            <a:r>
              <a:rPr lang="en-US" dirty="0"/>
              <a:t> de </a:t>
            </a:r>
            <a:r>
              <a:rPr lang="en-US" dirty="0" err="1"/>
              <a:t>publicitate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credibilitate</a:t>
            </a:r>
            <a:endParaRPr lang="en-US" dirty="0"/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r>
              <a:rPr lang="en-US" dirty="0"/>
              <a:t> Dar nu </a:t>
            </a:r>
            <a:r>
              <a:rPr lang="en-US" dirty="0" err="1"/>
              <a:t>numai</a:t>
            </a:r>
            <a:r>
              <a:rPr lang="en-US" dirty="0"/>
              <a:t> </a:t>
            </a:r>
            <a:r>
              <a:rPr lang="en-US" dirty="0" err="1"/>
              <a:t>atat</a:t>
            </a:r>
            <a:r>
              <a:rPr lang="en-US" dirty="0"/>
              <a:t> , pe </a:t>
            </a:r>
            <a:r>
              <a:rPr lang="en-US" dirty="0" err="1"/>
              <a:t>langa</a:t>
            </a:r>
            <a:r>
              <a:rPr lang="en-US" dirty="0"/>
              <a:t>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lucruri</a:t>
            </a:r>
            <a:r>
              <a:rPr lang="en-US" dirty="0"/>
              <a:t> , se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adauga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faptul</a:t>
            </a:r>
            <a:r>
              <a:rPr lang="en-US" dirty="0"/>
              <a:t> ca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pierderi</a:t>
            </a:r>
            <a:r>
              <a:rPr lang="en-US" dirty="0"/>
              <a:t> au </a:t>
            </a:r>
            <a:r>
              <a:rPr lang="en-US" dirty="0" err="1"/>
              <a:t>mers</a:t>
            </a:r>
            <a:r>
              <a:rPr lang="en-US" dirty="0"/>
              <a:t> direct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concurenta</a:t>
            </a:r>
            <a:r>
              <a:rPr lang="en-US" dirty="0"/>
              <a:t> ,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lucru</a:t>
            </a:r>
            <a:r>
              <a:rPr lang="en-US" dirty="0"/>
              <a:t> </a:t>
            </a:r>
            <a:r>
              <a:rPr lang="en-US" dirty="0" err="1"/>
              <a:t>traducandu</a:t>
            </a:r>
            <a:r>
              <a:rPr lang="en-US" dirty="0"/>
              <a:t>-se in </a:t>
            </a:r>
            <a:r>
              <a:rPr lang="en-US" dirty="0" err="1"/>
              <a:t>lupta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in a </a:t>
            </a:r>
            <a:r>
              <a:rPr lang="en-US" dirty="0" err="1"/>
              <a:t>ramane</a:t>
            </a:r>
            <a:r>
              <a:rPr lang="en-US" dirty="0"/>
              <a:t> pe </a:t>
            </a:r>
            <a:r>
              <a:rPr lang="en-US" dirty="0" err="1"/>
              <a:t>piata</a:t>
            </a:r>
            <a:r>
              <a:rPr lang="en-US" dirty="0"/>
              <a:t>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262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E1ACC-69E5-4755-BAF5-24E8C2B78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costuri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B69F0-7E46-462F-B92E-62986E526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dorim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abordam</a:t>
            </a:r>
            <a:r>
              <a:rPr lang="en-US" dirty="0"/>
              <a:t> o </a:t>
            </a:r>
            <a:r>
              <a:rPr lang="en-US" dirty="0" err="1"/>
              <a:t>perspectiva</a:t>
            </a:r>
            <a:r>
              <a:rPr lang="en-US" dirty="0"/>
              <a:t> </a:t>
            </a:r>
            <a:r>
              <a:rPr lang="en-US" dirty="0" err="1"/>
              <a:t>calitativa</a:t>
            </a:r>
            <a:r>
              <a:rPr lang="en-US" dirty="0"/>
              <a:t> ,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vedem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fel</a:t>
            </a:r>
            <a:r>
              <a:rPr lang="en-US" dirty="0"/>
              <a:t> de </a:t>
            </a:r>
            <a:r>
              <a:rPr lang="en-US" dirty="0" err="1"/>
              <a:t>costuri</a:t>
            </a:r>
            <a:r>
              <a:rPr lang="en-US" dirty="0"/>
              <a:t> sunt implicate . </a:t>
            </a:r>
            <a:r>
              <a:rPr lang="en-US" dirty="0" err="1"/>
              <a:t>Principalele</a:t>
            </a:r>
            <a:r>
              <a:rPr lang="en-US" dirty="0"/>
              <a:t> </a:t>
            </a:r>
            <a:r>
              <a:rPr lang="en-US" dirty="0" err="1"/>
              <a:t>ar</a:t>
            </a:r>
            <a:r>
              <a:rPr lang="en-US" dirty="0"/>
              <a:t> fi :</a:t>
            </a:r>
          </a:p>
          <a:p>
            <a:pPr lvl="1"/>
            <a:r>
              <a:rPr lang="en-US" b="1" dirty="0" err="1"/>
              <a:t>Costuri</a:t>
            </a:r>
            <a:r>
              <a:rPr lang="en-US" b="1" dirty="0"/>
              <a:t> interne </a:t>
            </a:r>
            <a:r>
              <a:rPr lang="en-US" b="1" dirty="0" err="1"/>
              <a:t>referitoare</a:t>
            </a:r>
            <a:r>
              <a:rPr lang="en-US" b="1" dirty="0"/>
              <a:t> la </a:t>
            </a:r>
            <a:r>
              <a:rPr lang="en-US" b="1" dirty="0" err="1"/>
              <a:t>noncalitate</a:t>
            </a:r>
            <a:r>
              <a:rPr lang="en-US" dirty="0"/>
              <a:t>: </a:t>
            </a:r>
            <a:r>
              <a:rPr lang="en-US" dirty="0" err="1"/>
              <a:t>cheltuieli</a:t>
            </a:r>
            <a:r>
              <a:rPr lang="en-US" dirty="0"/>
              <a:t> </a:t>
            </a:r>
            <a:r>
              <a:rPr lang="en-US" dirty="0" err="1"/>
              <a:t>suportate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produsul</a:t>
            </a:r>
            <a:r>
              <a:rPr lang="en-US" dirty="0"/>
              <a:t> nu </a:t>
            </a:r>
            <a:r>
              <a:rPr lang="en-US" dirty="0" err="1"/>
              <a:t>satisface</a:t>
            </a:r>
            <a:r>
              <a:rPr lang="en-US" dirty="0"/>
              <a:t> </a:t>
            </a:r>
            <a:r>
              <a:rPr lang="en-US" dirty="0" err="1"/>
              <a:t>cerinţele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se </a:t>
            </a:r>
            <a:r>
              <a:rPr lang="en-US" dirty="0" err="1"/>
              <a:t>constată</a:t>
            </a:r>
            <a:r>
              <a:rPr lang="en-US" dirty="0"/>
              <a:t> </a:t>
            </a:r>
            <a:r>
              <a:rPr lang="en-US" dirty="0" err="1"/>
              <a:t>înainte</a:t>
            </a:r>
            <a:r>
              <a:rPr lang="en-US" dirty="0"/>
              <a:t> ca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părăsească</a:t>
            </a:r>
            <a:r>
              <a:rPr lang="en-US" dirty="0"/>
              <a:t> </a:t>
            </a:r>
            <a:r>
              <a:rPr lang="en-US" dirty="0" err="1"/>
              <a:t>întreprinderea</a:t>
            </a:r>
            <a:r>
              <a:rPr lang="en-US" dirty="0"/>
              <a:t>;</a:t>
            </a:r>
          </a:p>
          <a:p>
            <a:pPr lvl="1"/>
            <a:r>
              <a:rPr lang="en-US" b="1" dirty="0" err="1"/>
              <a:t>Costuri</a:t>
            </a:r>
            <a:r>
              <a:rPr lang="en-US" b="1" dirty="0"/>
              <a:t> </a:t>
            </a:r>
            <a:r>
              <a:rPr lang="en-US" b="1" dirty="0" err="1"/>
              <a:t>externe</a:t>
            </a:r>
            <a:r>
              <a:rPr lang="en-US" b="1" dirty="0"/>
              <a:t> </a:t>
            </a:r>
            <a:r>
              <a:rPr lang="en-US" b="1" dirty="0" err="1"/>
              <a:t>referitoare</a:t>
            </a:r>
            <a:r>
              <a:rPr lang="en-US" b="1" dirty="0"/>
              <a:t> la </a:t>
            </a:r>
            <a:r>
              <a:rPr lang="en-US" b="1" dirty="0" err="1"/>
              <a:t>noncalitate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cheltuieli</a:t>
            </a:r>
            <a:r>
              <a:rPr lang="en-US" dirty="0"/>
              <a:t> </a:t>
            </a:r>
            <a:r>
              <a:rPr lang="en-US" dirty="0" err="1"/>
              <a:t>suportate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faptul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produsul</a:t>
            </a:r>
            <a:r>
              <a:rPr lang="en-US" dirty="0"/>
              <a:t> nu </a:t>
            </a:r>
            <a:r>
              <a:rPr lang="en-US" dirty="0" err="1"/>
              <a:t>satisface</a:t>
            </a:r>
            <a:r>
              <a:rPr lang="en-US" dirty="0"/>
              <a:t> </a:t>
            </a:r>
            <a:r>
              <a:rPr lang="en-US" dirty="0" err="1"/>
              <a:t>cerinţele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se </a:t>
            </a:r>
            <a:r>
              <a:rPr lang="en-US" dirty="0" err="1"/>
              <a:t>constată</a:t>
            </a:r>
            <a:r>
              <a:rPr lang="en-US" dirty="0"/>
              <a:t>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a </a:t>
            </a:r>
            <a:r>
              <a:rPr lang="en-US" dirty="0" err="1"/>
              <a:t>părăsit</a:t>
            </a:r>
            <a:r>
              <a:rPr lang="en-US" dirty="0"/>
              <a:t> </a:t>
            </a:r>
            <a:r>
              <a:rPr lang="en-US" dirty="0" err="1"/>
              <a:t>întreprinderea</a:t>
            </a:r>
            <a:r>
              <a:rPr lang="en-US" dirty="0"/>
              <a:t>;</a:t>
            </a:r>
          </a:p>
          <a:p>
            <a:pPr lvl="1"/>
            <a:r>
              <a:rPr lang="en-US" b="1" dirty="0" err="1"/>
              <a:t>Costuri</a:t>
            </a:r>
            <a:r>
              <a:rPr lang="en-US" b="1" dirty="0"/>
              <a:t> de </a:t>
            </a:r>
            <a:r>
              <a:rPr lang="en-US" b="1" dirty="0" err="1"/>
              <a:t>detectare</a:t>
            </a:r>
            <a:r>
              <a:rPr lang="en-US" b="1" dirty="0"/>
              <a:t> </a:t>
            </a:r>
            <a:r>
              <a:rPr lang="en-US" b="1" dirty="0" err="1"/>
              <a:t>şi</a:t>
            </a:r>
            <a:r>
              <a:rPr lang="en-US" b="1" dirty="0"/>
              <a:t> control:</a:t>
            </a:r>
            <a:r>
              <a:rPr lang="en-US" dirty="0"/>
              <a:t> </a:t>
            </a:r>
            <a:r>
              <a:rPr lang="en-US" dirty="0" err="1"/>
              <a:t>cheltuieli</a:t>
            </a:r>
            <a:r>
              <a:rPr lang="en-US" dirty="0"/>
              <a:t> </a:t>
            </a:r>
            <a:r>
              <a:rPr lang="en-US" dirty="0" err="1"/>
              <a:t>suportate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verificarea</a:t>
            </a:r>
            <a:r>
              <a:rPr lang="en-US" dirty="0"/>
              <a:t> </a:t>
            </a:r>
            <a:r>
              <a:rPr lang="en-US" dirty="0" err="1"/>
              <a:t>conformităţii</a:t>
            </a:r>
            <a:r>
              <a:rPr lang="en-US" dirty="0"/>
              <a:t> </a:t>
            </a:r>
            <a:r>
              <a:rPr lang="en-US" dirty="0" err="1"/>
              <a:t>produsului</a:t>
            </a:r>
            <a:r>
              <a:rPr lang="en-US" dirty="0"/>
              <a:t> cu </a:t>
            </a:r>
            <a:r>
              <a:rPr lang="en-US" dirty="0" err="1"/>
              <a:t>cerinţele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, </a:t>
            </a:r>
            <a:r>
              <a:rPr lang="en-US" dirty="0" err="1"/>
              <a:t>adică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finanţarea</a:t>
            </a:r>
            <a:r>
              <a:rPr lang="en-US" dirty="0"/>
              <a:t> </a:t>
            </a:r>
            <a:r>
              <a:rPr lang="en-US" dirty="0" err="1"/>
              <a:t>investigării</a:t>
            </a:r>
            <a:r>
              <a:rPr lang="en-US" dirty="0"/>
              <a:t> </a:t>
            </a:r>
            <a:r>
              <a:rPr lang="en-US" dirty="0" err="1"/>
              <a:t>noncalităţii</a:t>
            </a:r>
            <a:r>
              <a:rPr lang="en-US" dirty="0"/>
              <a:t>;</a:t>
            </a:r>
          </a:p>
          <a:p>
            <a:pPr lvl="1"/>
            <a:r>
              <a:rPr lang="it-IT" b="1" dirty="0"/>
              <a:t>Costuri de prevenire</a:t>
            </a:r>
            <a:r>
              <a:rPr lang="it-IT" dirty="0"/>
              <a:t>: cheltuieli efectuate pentru a reduce riscurile privind noncalitatea.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88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B5758-EE6E-4D51-A990-943A552C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concluzie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97689-435B-45AF-A400-574C9C6AB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</a:t>
            </a:r>
            <a:r>
              <a:rPr lang="en-US" dirty="0" err="1"/>
              <a:t>Costurile</a:t>
            </a:r>
            <a:r>
              <a:rPr lang="en-US" dirty="0"/>
              <a:t> </a:t>
            </a:r>
            <a:r>
              <a:rPr lang="en-US" dirty="0" err="1"/>
              <a:t>calitatii</a:t>
            </a:r>
            <a:r>
              <a:rPr lang="en-US" dirty="0"/>
              <a:t> se </a:t>
            </a:r>
            <a:r>
              <a:rPr lang="en-US" dirty="0" err="1"/>
              <a:t>inregistreaza</a:t>
            </a:r>
            <a:r>
              <a:rPr lang="en-US" dirty="0"/>
              <a:t> (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fel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altul</a:t>
            </a:r>
            <a:r>
              <a:rPr lang="en-US" dirty="0"/>
              <a:t>) </a:t>
            </a:r>
            <a:r>
              <a:rPr lang="en-US" dirty="0" err="1"/>
              <a:t>indiferent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</a:t>
            </a:r>
            <a:r>
              <a:rPr lang="en-US" dirty="0" err="1"/>
              <a:t>conceptul</a:t>
            </a:r>
            <a:r>
              <a:rPr lang="en-US" dirty="0"/>
              <a:t> de </a:t>
            </a:r>
            <a:r>
              <a:rPr lang="en-US" dirty="0" err="1"/>
              <a:t>calitate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luat</a:t>
            </a:r>
            <a:r>
              <a:rPr lang="en-US" dirty="0"/>
              <a:t> in </a:t>
            </a:r>
            <a:r>
              <a:rPr lang="en-US" dirty="0" err="1"/>
              <a:t>calcul</a:t>
            </a:r>
            <a:r>
              <a:rPr lang="en-US" dirty="0"/>
              <a:t> , </a:t>
            </a:r>
            <a:r>
              <a:rPr lang="en-US" dirty="0" err="1"/>
              <a:t>si</a:t>
            </a:r>
            <a:r>
              <a:rPr lang="en-US" dirty="0"/>
              <a:t>  </a:t>
            </a:r>
            <a:r>
              <a:rPr lang="en-US" dirty="0" err="1"/>
              <a:t>clientii</a:t>
            </a:r>
            <a:r>
              <a:rPr lang="en-US" dirty="0"/>
              <a:t> sunt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aleg</a:t>
            </a:r>
            <a:r>
              <a:rPr lang="en-US" dirty="0"/>
              <a:t> </a:t>
            </a:r>
            <a:r>
              <a:rPr lang="en-US" dirty="0" err="1"/>
              <a:t>daca</a:t>
            </a:r>
            <a:r>
              <a:rPr lang="en-US" dirty="0"/>
              <a:t> un </a:t>
            </a:r>
            <a:r>
              <a:rPr lang="en-US" dirty="0" err="1"/>
              <a:t>produs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</a:t>
            </a:r>
            <a:r>
              <a:rPr lang="en-US" dirty="0" err="1"/>
              <a:t>merita</a:t>
            </a:r>
            <a:r>
              <a:rPr lang="en-US" dirty="0"/>
              <a:t> </a:t>
            </a:r>
            <a:r>
              <a:rPr lang="en-US" dirty="0" err="1"/>
              <a:t>banii</a:t>
            </a:r>
            <a:r>
              <a:rPr lang="en-US" dirty="0"/>
              <a:t>.</a:t>
            </a:r>
          </a:p>
          <a:p>
            <a:r>
              <a:rPr lang="en-US" dirty="0"/>
              <a:t>  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motivul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care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intreprindere</a:t>
            </a:r>
            <a:r>
              <a:rPr lang="en-US" dirty="0"/>
              <a:t> care se </a:t>
            </a:r>
            <a:r>
              <a:rPr lang="en-US" dirty="0" err="1"/>
              <a:t>restpecta</a:t>
            </a:r>
            <a:r>
              <a:rPr lang="en-US" dirty="0"/>
              <a:t> a pus accent pe </a:t>
            </a:r>
            <a:r>
              <a:rPr lang="en-US" dirty="0" err="1"/>
              <a:t>acest</a:t>
            </a:r>
            <a:r>
              <a:rPr lang="en-US" dirty="0"/>
              <a:t> concept , </a:t>
            </a:r>
            <a:r>
              <a:rPr lang="en-US" dirty="0" err="1"/>
              <a:t>pana</a:t>
            </a:r>
            <a:r>
              <a:rPr lang="en-US" dirty="0"/>
              <a:t> in </a:t>
            </a:r>
            <a:r>
              <a:rPr lang="en-US" dirty="0" err="1"/>
              <a:t>zilele</a:t>
            </a:r>
            <a:r>
              <a:rPr lang="en-US" dirty="0"/>
              <a:t>  </a:t>
            </a:r>
            <a:r>
              <a:rPr lang="en-US" dirty="0" err="1"/>
              <a:t>noastre</a:t>
            </a:r>
            <a:r>
              <a:rPr lang="en-US" dirty="0"/>
              <a:t> </a:t>
            </a:r>
            <a:r>
              <a:rPr lang="en-US" dirty="0" err="1"/>
              <a:t>cand</a:t>
            </a:r>
            <a:r>
              <a:rPr lang="en-US" dirty="0"/>
              <a:t> un </a:t>
            </a:r>
            <a:r>
              <a:rPr lang="en-US" dirty="0" err="1"/>
              <a:t>proiect</a:t>
            </a:r>
            <a:r>
              <a:rPr lang="en-US" dirty="0"/>
              <a:t> slab face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diferenta</a:t>
            </a:r>
            <a:r>
              <a:rPr lang="en-US" dirty="0"/>
              <a:t> </a:t>
            </a:r>
            <a:r>
              <a:rPr lang="en-US" dirty="0" err="1"/>
              <a:t>intre</a:t>
            </a:r>
            <a:r>
              <a:rPr lang="en-US" dirty="0"/>
              <a:t>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concurenta</a:t>
            </a:r>
            <a:r>
              <a:rPr lang="en-US" dirty="0"/>
              <a:t>.</a:t>
            </a:r>
          </a:p>
          <a:p>
            <a:pPr marL="201168" lvl="1" indent="0">
              <a:buNone/>
            </a:pPr>
            <a:endParaRPr lang="en-US" dirty="0"/>
          </a:p>
          <a:p>
            <a:pPr marL="201168" lvl="1" indent="0">
              <a:buNone/>
            </a:pPr>
            <a:r>
              <a:rPr lang="en-US" dirty="0"/>
              <a:t> Tot de </a:t>
            </a:r>
            <a:r>
              <a:rPr lang="en-US" dirty="0" err="1"/>
              <a:t>aceea</a:t>
            </a:r>
            <a:r>
              <a:rPr lang="en-US" dirty="0"/>
              <a:t> </a:t>
            </a:r>
            <a:r>
              <a:rPr lang="en-US" dirty="0" err="1"/>
              <a:t>exista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standarde</a:t>
            </a:r>
            <a:r>
              <a:rPr lang="en-US" dirty="0"/>
              <a:t> (</a:t>
            </a:r>
            <a:r>
              <a:rPr lang="en-US" dirty="0" err="1"/>
              <a:t>familia</a:t>
            </a:r>
            <a:r>
              <a:rPr lang="en-US" dirty="0"/>
              <a:t> ISO , de </a:t>
            </a:r>
            <a:r>
              <a:rPr lang="en-US" dirty="0" err="1"/>
              <a:t>exemplu</a:t>
            </a:r>
            <a:r>
              <a:rPr lang="en-US" dirty="0"/>
              <a:t>) care sunt </a:t>
            </a:r>
            <a:r>
              <a:rPr lang="en-US" dirty="0" err="1"/>
              <a:t>respectate</a:t>
            </a:r>
            <a:r>
              <a:rPr lang="en-US" dirty="0"/>
              <a:t> in </a:t>
            </a:r>
            <a:r>
              <a:rPr lang="en-US" dirty="0" err="1"/>
              <a:t>interesul</a:t>
            </a:r>
            <a:r>
              <a:rPr lang="en-US" dirty="0"/>
              <a:t> </a:t>
            </a:r>
            <a:r>
              <a:rPr lang="en-US" dirty="0" err="1"/>
              <a:t>asigurarii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calitati</a:t>
            </a:r>
            <a:r>
              <a:rPr lang="en-US" dirty="0"/>
              <a:t> cat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bune</a:t>
            </a:r>
            <a:r>
              <a:rPr lang="en-US" dirty="0"/>
              <a:t> , </a:t>
            </a:r>
            <a:r>
              <a:rPr lang="en-US" dirty="0" err="1"/>
              <a:t>si</a:t>
            </a:r>
            <a:r>
              <a:rPr lang="en-US" dirty="0"/>
              <a:t> ca o </a:t>
            </a:r>
            <a:r>
              <a:rPr lang="en-US" dirty="0" err="1"/>
              <a:t>consecinta</a:t>
            </a:r>
            <a:r>
              <a:rPr lang="en-US" dirty="0"/>
              <a:t>  , a </a:t>
            </a:r>
            <a:r>
              <a:rPr lang="en-US" dirty="0" err="1"/>
              <a:t>optimiza</a:t>
            </a:r>
            <a:r>
              <a:rPr lang="en-US" dirty="0"/>
              <a:t> </a:t>
            </a:r>
            <a:r>
              <a:rPr lang="en-US" dirty="0" err="1"/>
              <a:t>ideea</a:t>
            </a:r>
            <a:r>
              <a:rPr lang="en-US" dirty="0"/>
              <a:t> de cost al </a:t>
            </a:r>
            <a:r>
              <a:rPr lang="en-US" dirty="0" err="1"/>
              <a:t>calitatii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352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085FA-8659-4B17-8C99-BD67CBB27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Bibliografie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resurse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BB617-44E4-448E-85EF-504AFC245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2"/>
              </a:rPr>
              <a:t>https://en.wikipedia.org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3"/>
              </a:rPr>
              <a:t>http://www.scritub.com/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4"/>
              </a:rPr>
              <a:t>http://www.rasfoiesc.com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hlinkClick r:id="rId5"/>
              </a:rPr>
              <a:t>http://www.scribd.com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Google Images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0355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164</TotalTime>
  <Words>840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Retrospect</vt:lpstr>
      <vt:lpstr>Costurile calitatii</vt:lpstr>
      <vt:lpstr>Cum se defineste calitatea ?</vt:lpstr>
      <vt:lpstr>Dar costul ?</vt:lpstr>
      <vt:lpstr>Costul Calitatii ?</vt:lpstr>
      <vt:lpstr>Dar la ce scop ?</vt:lpstr>
      <vt:lpstr>Reputatia brand-ului</vt:lpstr>
      <vt:lpstr>Costuri si fara sa investesti ?</vt:lpstr>
      <vt:lpstr>Dar cum se traduce asta in cost ?</vt:lpstr>
      <vt:lpstr>Tipuri de costuri</vt:lpstr>
      <vt:lpstr>In concluzie</vt:lpstr>
      <vt:lpstr>Bibliografie si resurse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</dc:creator>
  <cp:lastModifiedBy>Adi</cp:lastModifiedBy>
  <cp:revision>17</cp:revision>
  <dcterms:created xsi:type="dcterms:W3CDTF">2019-01-09T17:40:25Z</dcterms:created>
  <dcterms:modified xsi:type="dcterms:W3CDTF">2019-01-09T20:25:02Z</dcterms:modified>
</cp:coreProperties>
</file>